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8D4B"/>
    <a:srgbClr val="AD4F0F"/>
    <a:srgbClr val="C55A11"/>
    <a:srgbClr val="F19B61"/>
    <a:srgbClr val="DFE7F5"/>
    <a:srgbClr val="3C1A56"/>
    <a:srgbClr val="261036"/>
    <a:srgbClr val="3865B6"/>
    <a:srgbClr val="88A6D8"/>
    <a:srgbClr val="7A9C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6" autoAdjust="0"/>
    <p:restoredTop sz="96366" autoAdjust="0"/>
  </p:normalViewPr>
  <p:slideViewPr>
    <p:cSldViewPr snapToGrid="0">
      <p:cViewPr varScale="1">
        <p:scale>
          <a:sx n="60" d="100"/>
          <a:sy n="60" d="100"/>
        </p:scale>
        <p:origin x="72" y="118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9E274E6-328D-44F5-B6FA-72DA15E9B8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B48C1E6-5707-4C35-BF20-1E952F03FB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E4FFE1B-7ED3-4DC8-A834-EA3C5D2D5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A8575-ACC5-429B-81D4-E9AFD526AF70}" type="datetimeFigureOut">
              <a:rPr lang="hu-HU" smtClean="0"/>
              <a:t>2025.10.03.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A2F1D27-71A0-4B60-A7EB-804CCC666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225F81F-E7DE-4BDF-8390-51E541CEC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E6A0-67FE-464A-ACB2-2BC5F4F67E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8915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778619-1BE6-45DB-A4CA-37023C1FB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7948724-00DC-48A1-87D1-AC9752D5E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8CA777F-1E6D-4EC7-9768-C57E26EB4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A8575-ACC5-429B-81D4-E9AFD526AF70}" type="datetimeFigureOut">
              <a:rPr lang="hu-HU" smtClean="0"/>
              <a:t>2025.10.03.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8BD9C43-47E0-4295-9E97-326E035E2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620F08D-A4FC-41D1-B87B-FAF7F4B04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E6A0-67FE-464A-ACB2-2BC5F4F67E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70729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B58D320-C4E5-41B5-9166-3391A8545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EFBE1E6-D227-44CA-A1CD-BC1D3398C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EC47B86-836E-4043-91E9-694143221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A8575-ACC5-429B-81D4-E9AFD526AF70}" type="datetimeFigureOut">
              <a:rPr lang="hu-HU" smtClean="0"/>
              <a:t>2025.10.03.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85A3C09-17A3-4047-B2C2-856000B57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7B7E60D-D16F-4D9C-A05C-2C03176A3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E6A0-67FE-464A-ACB2-2BC5F4F67E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36614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AD72B9D-B9F7-4E98-9BFE-81A3AA058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51C26E5-9F1F-4732-8F5C-C476719E1F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3091396F-6C07-4DA2-BFA3-A9F47DA23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02F78D2-4BEF-4BD8-B413-6555F9EC8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A8575-ACC5-429B-81D4-E9AFD526AF70}" type="datetimeFigureOut">
              <a:rPr lang="hu-HU" smtClean="0"/>
              <a:t>2025.10.03.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7B86176-DB5F-477F-8D6A-9711EA840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9442A1F-4DA4-4159-8122-BB41A125C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E6A0-67FE-464A-ACB2-2BC5F4F67E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86665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49C21BD-902D-4348-B0E7-C269345A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B160DC4-5B4F-4360-B3F6-58CAF5AE5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D5A8360D-8E5C-4656-8B9A-0CC485CB0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B8FD044F-B731-43FB-985E-3E25533857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A19C0E92-98C8-4EB9-80DC-ACEF11F8E1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CD7D1AC2-DFD8-4726-B225-E08DA8899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A8575-ACC5-429B-81D4-E9AFD526AF70}" type="datetimeFigureOut">
              <a:rPr lang="hu-HU" smtClean="0"/>
              <a:t>2025.10.03.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A8A873E6-25E0-4257-80FF-7023C47D9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2B0F842D-B66A-4D23-9B81-DF0018E5A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E6A0-67FE-464A-ACB2-2BC5F4F67E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98755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38B63B-9492-4449-8106-1E6DBFDAB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74E3C1AC-4A40-40CF-A873-0AFFC7B5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A8575-ACC5-429B-81D4-E9AFD526AF70}" type="datetimeFigureOut">
              <a:rPr lang="hu-HU" smtClean="0"/>
              <a:t>2025.10.03.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F826BA8E-E00C-441B-8D32-F98EDC97A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8449EF5F-5619-481B-A946-F48F5705C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E6A0-67FE-464A-ACB2-2BC5F4F67E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49599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C826BBF5-0D5A-40C2-988A-2FCB81109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A8575-ACC5-429B-81D4-E9AFD526AF70}" type="datetimeFigureOut">
              <a:rPr lang="hu-HU" smtClean="0"/>
              <a:t>2025.10.03.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C15E4815-6285-4481-836D-44EFFF59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EC6F137-9E7B-4596-8A36-5932628CB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E6A0-67FE-464A-ACB2-2BC5F4F67E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29540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D3A936C-CAE4-443C-A6B3-10A2422CA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84674DB-4C33-454E-8AA6-3E1243FCC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475F613-858A-4A80-9514-9D74AE383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E0D10A5-B047-4E06-AF64-F88DF4304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A8575-ACC5-429B-81D4-E9AFD526AF70}" type="datetimeFigureOut">
              <a:rPr lang="hu-HU" smtClean="0"/>
              <a:t>2025.10.03.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ECA817F-9F6B-4B10-850B-184F1E577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FA96AFB-BB1A-4B2A-B3AD-B6E7681BC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E6A0-67FE-464A-ACB2-2BC5F4F67E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81351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8E877D2-71F0-4FEF-B986-D231C5FC7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979831DA-36C0-4E5C-8820-DBD48D8F47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0B90F34-BFF8-4860-97EE-339905832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F9D45E3-3960-484E-A087-28FED926C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A8575-ACC5-429B-81D4-E9AFD526AF70}" type="datetimeFigureOut">
              <a:rPr lang="hu-HU" smtClean="0"/>
              <a:t>2025.10.03.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85B1A6E-20D9-4A84-8A57-185631687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61270B6-2B0C-4106-8204-D6EF15FEB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E6A0-67FE-464A-ACB2-2BC5F4F67E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55199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33FD936-C29B-4900-94F8-BB73738AE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892811C-DA0B-416E-B044-09D411EB04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2204212-763A-4029-BB5B-57F424289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A8575-ACC5-429B-81D4-E9AFD526AF70}" type="datetimeFigureOut">
              <a:rPr lang="hu-HU" smtClean="0"/>
              <a:t>2025.10.03.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40BA286-3BB6-4EB9-99D7-746B323F4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1AAEF11-AA44-4641-BC89-255612063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E6A0-67FE-464A-ACB2-2BC5F4F67E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39646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33853D1B-51FE-4B10-B58C-871C72C53A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DD5F7E99-D050-4F7E-B546-CFDC13D5B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4509F1D-97CC-4251-ABB1-AEB233D9E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A8575-ACC5-429B-81D4-E9AFD526AF70}" type="datetimeFigureOut">
              <a:rPr lang="hu-HU" smtClean="0"/>
              <a:t>2025.10.03.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5CE264A-A218-4206-9745-4AF0FA043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935BADB-939E-4E9C-B9DA-D1AC85A9E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2E6A0-67FE-464A-ACB2-2BC5F4F67E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85274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49E850E1-4221-402A-AA59-4DF02CCFA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BE665AA-0782-4214-9EDD-29307C249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54B5540-2449-42B8-B1A8-9E4C10551D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3A8575-ACC5-429B-81D4-E9AFD526AF70}" type="datetimeFigureOut">
              <a:rPr lang="hu-HU" smtClean="0"/>
              <a:t>2025.10.03.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46D970F-A5E7-4FA1-BB26-7F08A3DF51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C3A5B36-B9E4-4389-A815-B139AA1A69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2E6A0-67FE-464A-ACB2-2BC5F4F67E3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9480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E7F5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Kép 18">
            <a:extLst>
              <a:ext uri="{FF2B5EF4-FFF2-40B4-BE49-F238E27FC236}">
                <a16:creationId xmlns:a16="http://schemas.microsoft.com/office/drawing/2014/main" id="{47DFC46E-2E22-4496-80CE-F761ADE90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4970" y="499452"/>
            <a:ext cx="1313856" cy="860102"/>
          </a:xfrm>
          <a:prstGeom prst="rect">
            <a:avLst/>
          </a:prstGeom>
        </p:spPr>
      </p:pic>
      <p:pic>
        <p:nvPicPr>
          <p:cNvPr id="65" name="Kép 64">
            <a:extLst>
              <a:ext uri="{FF2B5EF4-FFF2-40B4-BE49-F238E27FC236}">
                <a16:creationId xmlns:a16="http://schemas.microsoft.com/office/drawing/2014/main" id="{8A899549-D0E6-4D0F-A3D1-21232395B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125" b="93750" l="10000" r="90000">
                        <a14:foregroundMark x1="50000" y1="6250" x2="50000" y2="6250"/>
                        <a14:foregroundMark x1="50625" y1="93750" x2="50625" y2="93750"/>
                        <a14:foregroundMark x1="48125" y1="3125" x2="48125" y2="31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103044" y="2541551"/>
            <a:ext cx="811583" cy="1001516"/>
          </a:xfrm>
          <a:prstGeom prst="rect">
            <a:avLst/>
          </a:prstGeom>
        </p:spPr>
      </p:pic>
      <p:pic>
        <p:nvPicPr>
          <p:cNvPr id="111" name="Kép 110">
            <a:extLst>
              <a:ext uri="{FF2B5EF4-FFF2-40B4-BE49-F238E27FC236}">
                <a16:creationId xmlns:a16="http://schemas.microsoft.com/office/drawing/2014/main" id="{6CAEF04D-E447-4C32-8541-363245B72F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320" y="2179860"/>
            <a:ext cx="1483771" cy="1483771"/>
          </a:xfrm>
          <a:prstGeom prst="rect">
            <a:avLst/>
          </a:prstGeom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E2E2E585-A2C4-416C-AF44-F3801A91C0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125" b="93750" l="10000" r="90000">
                        <a14:foregroundMark x1="50000" y1="6250" x2="50000" y2="6250"/>
                        <a14:foregroundMark x1="50625" y1="93750" x2="50625" y2="93750"/>
                        <a14:foregroundMark x1="48125" y1="3125" x2="48125" y2="31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6490" y="2046378"/>
            <a:ext cx="1524000" cy="1524000"/>
          </a:xfrm>
          <a:prstGeom prst="rect">
            <a:avLst/>
          </a:prstGeom>
        </p:spPr>
      </p:pic>
      <p:grpSp>
        <p:nvGrpSpPr>
          <p:cNvPr id="107" name="Csoportba foglalás 106">
            <a:extLst>
              <a:ext uri="{FF2B5EF4-FFF2-40B4-BE49-F238E27FC236}">
                <a16:creationId xmlns:a16="http://schemas.microsoft.com/office/drawing/2014/main" id="{B89AB82C-261A-4647-8F7F-5C463C7C564F}"/>
              </a:ext>
            </a:extLst>
          </p:cNvPr>
          <p:cNvGrpSpPr/>
          <p:nvPr/>
        </p:nvGrpSpPr>
        <p:grpSpPr>
          <a:xfrm>
            <a:off x="5704514" y="3697466"/>
            <a:ext cx="6385629" cy="3160534"/>
            <a:chOff x="5704514" y="3697466"/>
            <a:chExt cx="6385629" cy="3160534"/>
          </a:xfrm>
        </p:grpSpPr>
        <p:sp>
          <p:nvSpPr>
            <p:cNvPr id="4" name="Téglalap: lekerekített 3">
              <a:extLst>
                <a:ext uri="{FF2B5EF4-FFF2-40B4-BE49-F238E27FC236}">
                  <a16:creationId xmlns:a16="http://schemas.microsoft.com/office/drawing/2014/main" id="{C5E3F403-6C04-4549-83EA-29AA4FD61E43}"/>
                </a:ext>
              </a:extLst>
            </p:cNvPr>
            <p:cNvSpPr/>
            <p:nvPr/>
          </p:nvSpPr>
          <p:spPr>
            <a:xfrm>
              <a:off x="5975799" y="3697466"/>
              <a:ext cx="930948" cy="424670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100" dirty="0"/>
                <a:t>Felhasználói</a:t>
              </a:r>
            </a:p>
            <a:p>
              <a:pPr algn="ctr"/>
              <a:r>
                <a:rPr lang="hu-HU" sz="1100" dirty="0"/>
                <a:t>specifikáció</a:t>
              </a:r>
            </a:p>
          </p:txBody>
        </p:sp>
        <p:sp>
          <p:nvSpPr>
            <p:cNvPr id="5" name="Téglalap: lekerekített 4">
              <a:extLst>
                <a:ext uri="{FF2B5EF4-FFF2-40B4-BE49-F238E27FC236}">
                  <a16:creationId xmlns:a16="http://schemas.microsoft.com/office/drawing/2014/main" id="{A7AA4D70-2477-4FA5-A61D-8AB2F04727B8}"/>
                </a:ext>
              </a:extLst>
            </p:cNvPr>
            <p:cNvSpPr/>
            <p:nvPr/>
          </p:nvSpPr>
          <p:spPr>
            <a:xfrm>
              <a:off x="6441273" y="4303023"/>
              <a:ext cx="930948" cy="42467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7" name="Téglalap: lekerekített 6">
              <a:extLst>
                <a:ext uri="{FF2B5EF4-FFF2-40B4-BE49-F238E27FC236}">
                  <a16:creationId xmlns:a16="http://schemas.microsoft.com/office/drawing/2014/main" id="{1362FBFE-9860-4592-884B-775414BC57B8}"/>
                </a:ext>
              </a:extLst>
            </p:cNvPr>
            <p:cNvSpPr/>
            <p:nvPr/>
          </p:nvSpPr>
          <p:spPr>
            <a:xfrm>
              <a:off x="6906747" y="4908581"/>
              <a:ext cx="930948" cy="424670"/>
            </a:xfrm>
            <a:prstGeom prst="roundRect">
              <a:avLst/>
            </a:prstGeom>
            <a:solidFill>
              <a:srgbClr val="3865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100" dirty="0"/>
                <a:t>Rendszer</a:t>
              </a:r>
            </a:p>
            <a:p>
              <a:pPr algn="ctr"/>
              <a:r>
                <a:rPr lang="hu-HU" sz="1100" dirty="0"/>
                <a:t>specifikáció</a:t>
              </a:r>
            </a:p>
          </p:txBody>
        </p:sp>
        <p:sp>
          <p:nvSpPr>
            <p:cNvPr id="8" name="Téglalap: lekerekített 7">
              <a:extLst>
                <a:ext uri="{FF2B5EF4-FFF2-40B4-BE49-F238E27FC236}">
                  <a16:creationId xmlns:a16="http://schemas.microsoft.com/office/drawing/2014/main" id="{8FADBD0E-AED5-4350-A7B0-078263BD8123}"/>
                </a:ext>
              </a:extLst>
            </p:cNvPr>
            <p:cNvSpPr/>
            <p:nvPr/>
          </p:nvSpPr>
          <p:spPr>
            <a:xfrm>
              <a:off x="7372220" y="5514138"/>
              <a:ext cx="930948" cy="42467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100" dirty="0"/>
                <a:t>Tervezés</a:t>
              </a:r>
            </a:p>
          </p:txBody>
        </p:sp>
        <p:sp>
          <p:nvSpPr>
            <p:cNvPr id="9" name="Téglalap: lekerekített 8">
              <a:extLst>
                <a:ext uri="{FF2B5EF4-FFF2-40B4-BE49-F238E27FC236}">
                  <a16:creationId xmlns:a16="http://schemas.microsoft.com/office/drawing/2014/main" id="{774A7F7A-C6C3-4898-9F08-7D311D0F52D1}"/>
                </a:ext>
              </a:extLst>
            </p:cNvPr>
            <p:cNvSpPr/>
            <p:nvPr/>
          </p:nvSpPr>
          <p:spPr>
            <a:xfrm>
              <a:off x="7811030" y="6119696"/>
              <a:ext cx="930948" cy="42467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100" dirty="0"/>
                <a:t>kódolás</a:t>
              </a:r>
            </a:p>
          </p:txBody>
        </p:sp>
        <p:sp>
          <p:nvSpPr>
            <p:cNvPr id="10" name="Téglalap: lekerekített 9">
              <a:extLst>
                <a:ext uri="{FF2B5EF4-FFF2-40B4-BE49-F238E27FC236}">
                  <a16:creationId xmlns:a16="http://schemas.microsoft.com/office/drawing/2014/main" id="{540FA514-E8F7-43A1-A2EE-2816A8609DC1}"/>
                </a:ext>
              </a:extLst>
            </p:cNvPr>
            <p:cNvSpPr/>
            <p:nvPr/>
          </p:nvSpPr>
          <p:spPr>
            <a:xfrm>
              <a:off x="8964570" y="6119696"/>
              <a:ext cx="930948" cy="42467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100" dirty="0"/>
                <a:t>Egységteszt</a:t>
              </a:r>
            </a:p>
          </p:txBody>
        </p:sp>
        <p:sp>
          <p:nvSpPr>
            <p:cNvPr id="11" name="Téglalap: lekerekített 10">
              <a:extLst>
                <a:ext uri="{FF2B5EF4-FFF2-40B4-BE49-F238E27FC236}">
                  <a16:creationId xmlns:a16="http://schemas.microsoft.com/office/drawing/2014/main" id="{71EAE5F7-22E2-42CC-9545-4D38C6829F7E}"/>
                </a:ext>
              </a:extLst>
            </p:cNvPr>
            <p:cNvSpPr/>
            <p:nvPr/>
          </p:nvSpPr>
          <p:spPr>
            <a:xfrm>
              <a:off x="9403380" y="5514138"/>
              <a:ext cx="930948" cy="42467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100" dirty="0"/>
                <a:t>Komponens</a:t>
              </a:r>
            </a:p>
            <a:p>
              <a:pPr algn="ctr"/>
              <a:r>
                <a:rPr lang="hu-HU" sz="1100" dirty="0"/>
                <a:t>integráció</a:t>
              </a:r>
            </a:p>
          </p:txBody>
        </p:sp>
        <p:sp>
          <p:nvSpPr>
            <p:cNvPr id="12" name="Téglalap: lekerekített 11">
              <a:extLst>
                <a:ext uri="{FF2B5EF4-FFF2-40B4-BE49-F238E27FC236}">
                  <a16:creationId xmlns:a16="http://schemas.microsoft.com/office/drawing/2014/main" id="{8C2DF901-B470-40AF-A05E-216607E499CC}"/>
                </a:ext>
              </a:extLst>
            </p:cNvPr>
            <p:cNvSpPr/>
            <p:nvPr/>
          </p:nvSpPr>
          <p:spPr>
            <a:xfrm>
              <a:off x="9868854" y="4908581"/>
              <a:ext cx="930948" cy="424670"/>
            </a:xfrm>
            <a:prstGeom prst="roundRect">
              <a:avLst/>
            </a:prstGeom>
            <a:solidFill>
              <a:srgbClr val="3865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100" dirty="0"/>
                <a:t>Rendszer</a:t>
              </a:r>
            </a:p>
            <a:p>
              <a:pPr algn="ctr"/>
              <a:r>
                <a:rPr lang="hu-HU" sz="1100" dirty="0"/>
                <a:t>tesztelés</a:t>
              </a:r>
            </a:p>
          </p:txBody>
        </p:sp>
        <p:sp>
          <p:nvSpPr>
            <p:cNvPr id="13" name="Téglalap: lekerekített 12">
              <a:extLst>
                <a:ext uri="{FF2B5EF4-FFF2-40B4-BE49-F238E27FC236}">
                  <a16:creationId xmlns:a16="http://schemas.microsoft.com/office/drawing/2014/main" id="{8156D373-49D3-4A89-835F-2C4B2E7652E6}"/>
                </a:ext>
              </a:extLst>
            </p:cNvPr>
            <p:cNvSpPr/>
            <p:nvPr/>
          </p:nvSpPr>
          <p:spPr>
            <a:xfrm>
              <a:off x="10334327" y="4303023"/>
              <a:ext cx="930948" cy="424670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100" dirty="0"/>
                <a:t>Rendszer</a:t>
              </a:r>
            </a:p>
            <a:p>
              <a:pPr algn="ctr"/>
              <a:r>
                <a:rPr lang="hu-HU" sz="1100" dirty="0"/>
                <a:t>integráció</a:t>
              </a:r>
            </a:p>
          </p:txBody>
        </p:sp>
        <p:sp>
          <p:nvSpPr>
            <p:cNvPr id="14" name="Téglalap: lekerekített 13">
              <a:extLst>
                <a:ext uri="{FF2B5EF4-FFF2-40B4-BE49-F238E27FC236}">
                  <a16:creationId xmlns:a16="http://schemas.microsoft.com/office/drawing/2014/main" id="{F50085B6-EFDE-42BE-9CA1-4609BB60DBFB}"/>
                </a:ext>
              </a:extLst>
            </p:cNvPr>
            <p:cNvSpPr/>
            <p:nvPr/>
          </p:nvSpPr>
          <p:spPr>
            <a:xfrm>
              <a:off x="6441273" y="4303023"/>
              <a:ext cx="930948" cy="424670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100" dirty="0"/>
                <a:t>Vállalati</a:t>
              </a:r>
            </a:p>
            <a:p>
              <a:pPr algn="ctr"/>
              <a:r>
                <a:rPr lang="hu-HU" sz="1100" dirty="0" err="1"/>
                <a:t>architektum</a:t>
              </a:r>
              <a:endParaRPr lang="hu-HU" sz="1100" dirty="0"/>
            </a:p>
          </p:txBody>
        </p:sp>
        <p:sp>
          <p:nvSpPr>
            <p:cNvPr id="15" name="Téglalap: lekerekített 14">
              <a:extLst>
                <a:ext uri="{FF2B5EF4-FFF2-40B4-BE49-F238E27FC236}">
                  <a16:creationId xmlns:a16="http://schemas.microsoft.com/office/drawing/2014/main" id="{D6D85B0E-DF8A-48C5-8411-44B8CA6ECBAE}"/>
                </a:ext>
              </a:extLst>
            </p:cNvPr>
            <p:cNvSpPr/>
            <p:nvPr/>
          </p:nvSpPr>
          <p:spPr>
            <a:xfrm>
              <a:off x="10799801" y="3697466"/>
              <a:ext cx="930948" cy="424670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100" dirty="0"/>
                <a:t>Átvételi</a:t>
              </a:r>
            </a:p>
            <a:p>
              <a:pPr algn="ctr"/>
              <a:r>
                <a:rPr lang="hu-HU" sz="1100" dirty="0"/>
                <a:t>tesztelés</a:t>
              </a:r>
            </a:p>
          </p:txBody>
        </p:sp>
        <p:cxnSp>
          <p:nvCxnSpPr>
            <p:cNvPr id="17" name="Egyenes összekötő nyíllal 16">
              <a:extLst>
                <a:ext uri="{FF2B5EF4-FFF2-40B4-BE49-F238E27FC236}">
                  <a16:creationId xmlns:a16="http://schemas.microsoft.com/office/drawing/2014/main" id="{B90C72D0-47DE-4662-8AE5-C69A3FEBB3AE}"/>
                </a:ext>
              </a:extLst>
            </p:cNvPr>
            <p:cNvCxnSpPr>
              <a:cxnSpLocks/>
            </p:cNvCxnSpPr>
            <p:nvPr/>
          </p:nvCxnSpPr>
          <p:spPr>
            <a:xfrm>
              <a:off x="5704514" y="3909801"/>
              <a:ext cx="2009420" cy="2634565"/>
            </a:xfrm>
            <a:prstGeom prst="straightConnector1">
              <a:avLst/>
            </a:prstGeom>
            <a:ln w="38100">
              <a:solidFill>
                <a:srgbClr val="3C1A56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Egyenes összekötő nyíllal 17">
              <a:extLst>
                <a:ext uri="{FF2B5EF4-FFF2-40B4-BE49-F238E27FC236}">
                  <a16:creationId xmlns:a16="http://schemas.microsoft.com/office/drawing/2014/main" id="{8CF4267D-3ABA-4E00-9D4E-ADD6C6C8AD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70875" y="3796397"/>
              <a:ext cx="2119268" cy="2747970"/>
            </a:xfrm>
            <a:prstGeom prst="straightConnector1">
              <a:avLst/>
            </a:prstGeom>
            <a:ln w="38100">
              <a:solidFill>
                <a:srgbClr val="3C1A56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Egyenes összekötő nyíllal 22">
              <a:extLst>
                <a:ext uri="{FF2B5EF4-FFF2-40B4-BE49-F238E27FC236}">
                  <a16:creationId xmlns:a16="http://schemas.microsoft.com/office/drawing/2014/main" id="{08103758-C985-4A16-97D3-F4778304CD43}"/>
                </a:ext>
              </a:extLst>
            </p:cNvPr>
            <p:cNvCxnSpPr>
              <a:cxnSpLocks/>
            </p:cNvCxnSpPr>
            <p:nvPr/>
          </p:nvCxnSpPr>
          <p:spPr>
            <a:xfrm>
              <a:off x="7837694" y="6643297"/>
              <a:ext cx="2031160" cy="0"/>
            </a:xfrm>
            <a:prstGeom prst="straightConnector1">
              <a:avLst/>
            </a:prstGeom>
            <a:ln w="38100">
              <a:solidFill>
                <a:srgbClr val="3C1A56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Egyenes összekötő nyíllal 25">
              <a:extLst>
                <a:ext uri="{FF2B5EF4-FFF2-40B4-BE49-F238E27FC236}">
                  <a16:creationId xmlns:a16="http://schemas.microsoft.com/office/drawing/2014/main" id="{7330FE96-D9C1-4B77-94D1-9F03AF1479A8}"/>
                </a:ext>
              </a:extLst>
            </p:cNvPr>
            <p:cNvCxnSpPr>
              <a:cxnSpLocks/>
            </p:cNvCxnSpPr>
            <p:nvPr/>
          </p:nvCxnSpPr>
          <p:spPr>
            <a:xfrm>
              <a:off x="7471344" y="4535343"/>
              <a:ext cx="2789365" cy="0"/>
            </a:xfrm>
            <a:prstGeom prst="straightConnector1">
              <a:avLst/>
            </a:prstGeom>
            <a:ln w="38100">
              <a:solidFill>
                <a:srgbClr val="3C1A56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Szövegdoboz 28">
              <a:extLst>
                <a:ext uri="{FF2B5EF4-FFF2-40B4-BE49-F238E27FC236}">
                  <a16:creationId xmlns:a16="http://schemas.microsoft.com/office/drawing/2014/main" id="{23A3AA65-EC03-465F-9557-678A9CDF2EC3}"/>
                </a:ext>
              </a:extLst>
            </p:cNvPr>
            <p:cNvSpPr txBox="1"/>
            <p:nvPr/>
          </p:nvSpPr>
          <p:spPr>
            <a:xfrm rot="3317548">
              <a:off x="6062738" y="5222509"/>
              <a:ext cx="1092118" cy="221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100" dirty="0"/>
                <a:t>Fejlesztési szár</a:t>
              </a:r>
            </a:p>
          </p:txBody>
        </p:sp>
        <p:sp>
          <p:nvSpPr>
            <p:cNvPr id="30" name="Szövegdoboz 29">
              <a:extLst>
                <a:ext uri="{FF2B5EF4-FFF2-40B4-BE49-F238E27FC236}">
                  <a16:creationId xmlns:a16="http://schemas.microsoft.com/office/drawing/2014/main" id="{25A02DF8-63D5-4DCF-849A-BF754997D834}"/>
                </a:ext>
              </a:extLst>
            </p:cNvPr>
            <p:cNvSpPr txBox="1"/>
            <p:nvPr/>
          </p:nvSpPr>
          <p:spPr>
            <a:xfrm>
              <a:off x="8472141" y="6643276"/>
              <a:ext cx="787769" cy="2147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100" dirty="0"/>
                <a:t>Eltelt idő</a:t>
              </a:r>
            </a:p>
          </p:txBody>
        </p:sp>
        <p:sp>
          <p:nvSpPr>
            <p:cNvPr id="31" name="Szövegdoboz 30">
              <a:extLst>
                <a:ext uri="{FF2B5EF4-FFF2-40B4-BE49-F238E27FC236}">
                  <a16:creationId xmlns:a16="http://schemas.microsoft.com/office/drawing/2014/main" id="{FAEAE71F-53D6-49FE-8AD7-45750BC81881}"/>
                </a:ext>
              </a:extLst>
            </p:cNvPr>
            <p:cNvSpPr txBox="1"/>
            <p:nvPr/>
          </p:nvSpPr>
          <p:spPr>
            <a:xfrm rot="18280636">
              <a:off x="10603494" y="5222398"/>
              <a:ext cx="1092118" cy="221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100" dirty="0"/>
                <a:t>Tesztelési szár</a:t>
              </a:r>
            </a:p>
          </p:txBody>
        </p:sp>
      </p:grpSp>
      <p:grpSp>
        <p:nvGrpSpPr>
          <p:cNvPr id="108" name="Csoportba foglalás 107">
            <a:extLst>
              <a:ext uri="{FF2B5EF4-FFF2-40B4-BE49-F238E27FC236}">
                <a16:creationId xmlns:a16="http://schemas.microsoft.com/office/drawing/2014/main" id="{4989C976-DBD0-46BD-AECD-7ADDA8640B47}"/>
              </a:ext>
            </a:extLst>
          </p:cNvPr>
          <p:cNvGrpSpPr/>
          <p:nvPr/>
        </p:nvGrpSpPr>
        <p:grpSpPr>
          <a:xfrm>
            <a:off x="139916" y="68432"/>
            <a:ext cx="5255422" cy="3330050"/>
            <a:chOff x="139916" y="68432"/>
            <a:chExt cx="5255422" cy="3330050"/>
          </a:xfrm>
        </p:grpSpPr>
        <p:sp>
          <p:nvSpPr>
            <p:cNvPr id="67" name="Rectangle: Rounded Corners 5">
              <a:extLst>
                <a:ext uri="{FF2B5EF4-FFF2-40B4-BE49-F238E27FC236}">
                  <a16:creationId xmlns:a16="http://schemas.microsoft.com/office/drawing/2014/main" id="{C3CC1EB8-D187-4DE2-A028-1EA1C8D97B27}"/>
                </a:ext>
              </a:extLst>
            </p:cNvPr>
            <p:cNvSpPr/>
            <p:nvPr/>
          </p:nvSpPr>
          <p:spPr>
            <a:xfrm>
              <a:off x="139916" y="68432"/>
              <a:ext cx="1313856" cy="381782"/>
            </a:xfrm>
            <a:prstGeom prst="roundRect">
              <a:avLst/>
            </a:prstGeom>
            <a:solidFill>
              <a:srgbClr val="0910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hu-HU" sz="1100" dirty="0"/>
                <a:t>Felhasználói specifikáció</a:t>
              </a:r>
            </a:p>
          </p:txBody>
        </p:sp>
        <p:sp>
          <p:nvSpPr>
            <p:cNvPr id="68" name="Rectangle: Rounded Corners 6">
              <a:extLst>
                <a:ext uri="{FF2B5EF4-FFF2-40B4-BE49-F238E27FC236}">
                  <a16:creationId xmlns:a16="http://schemas.microsoft.com/office/drawing/2014/main" id="{BB4D3CC5-DBEA-457B-BFD9-BCF7837CD028}"/>
                </a:ext>
              </a:extLst>
            </p:cNvPr>
            <p:cNvSpPr/>
            <p:nvPr/>
          </p:nvSpPr>
          <p:spPr>
            <a:xfrm>
              <a:off x="796844" y="559912"/>
              <a:ext cx="1313856" cy="381782"/>
            </a:xfrm>
            <a:prstGeom prst="roundRect">
              <a:avLst/>
            </a:prstGeom>
            <a:solidFill>
              <a:srgbClr val="111E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hu-HU" sz="1100" dirty="0"/>
                <a:t>Rendszer specifikáció</a:t>
              </a:r>
            </a:p>
          </p:txBody>
        </p:sp>
        <p:sp>
          <p:nvSpPr>
            <p:cNvPr id="69" name="Rectangle: Rounded Corners 7">
              <a:extLst>
                <a:ext uri="{FF2B5EF4-FFF2-40B4-BE49-F238E27FC236}">
                  <a16:creationId xmlns:a16="http://schemas.microsoft.com/office/drawing/2014/main" id="{D997F4A3-C7BD-41A9-8F40-52D43F97128A}"/>
                </a:ext>
              </a:extLst>
            </p:cNvPr>
            <p:cNvSpPr/>
            <p:nvPr/>
          </p:nvSpPr>
          <p:spPr>
            <a:xfrm>
              <a:off x="1453771" y="1051391"/>
              <a:ext cx="1313856" cy="381782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hu-HU" sz="1100" dirty="0"/>
                <a:t>Architektúra specifikáció</a:t>
              </a:r>
            </a:p>
          </p:txBody>
        </p:sp>
        <p:sp>
          <p:nvSpPr>
            <p:cNvPr id="70" name="Rectangle: Rounded Corners 8">
              <a:extLst>
                <a:ext uri="{FF2B5EF4-FFF2-40B4-BE49-F238E27FC236}">
                  <a16:creationId xmlns:a16="http://schemas.microsoft.com/office/drawing/2014/main" id="{1A2B786C-DEAC-4BA4-8BB8-03ACBF5E415E}"/>
                </a:ext>
              </a:extLst>
            </p:cNvPr>
            <p:cNvSpPr/>
            <p:nvPr/>
          </p:nvSpPr>
          <p:spPr>
            <a:xfrm>
              <a:off x="2110699" y="1542871"/>
              <a:ext cx="1313856" cy="3817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hu-HU" sz="1100" dirty="0"/>
                <a:t>Tervezés</a:t>
              </a:r>
            </a:p>
          </p:txBody>
        </p:sp>
        <p:sp>
          <p:nvSpPr>
            <p:cNvPr id="71" name="Rectangle: Rounded Corners 9">
              <a:extLst>
                <a:ext uri="{FF2B5EF4-FFF2-40B4-BE49-F238E27FC236}">
                  <a16:creationId xmlns:a16="http://schemas.microsoft.com/office/drawing/2014/main" id="{FBE24827-687F-4EB1-A5D2-8E9BA28B095F}"/>
                </a:ext>
              </a:extLst>
            </p:cNvPr>
            <p:cNvSpPr/>
            <p:nvPr/>
          </p:nvSpPr>
          <p:spPr>
            <a:xfrm>
              <a:off x="2767626" y="2033028"/>
              <a:ext cx="1313856" cy="381782"/>
            </a:xfrm>
            <a:prstGeom prst="roundRect">
              <a:avLst/>
            </a:prstGeom>
            <a:solidFill>
              <a:srgbClr val="3865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hu-HU" sz="1100" dirty="0"/>
                <a:t>Kódolás</a:t>
              </a:r>
            </a:p>
          </p:txBody>
        </p:sp>
        <p:sp>
          <p:nvSpPr>
            <p:cNvPr id="72" name="Rectangle: Rounded Corners 10">
              <a:extLst>
                <a:ext uri="{FF2B5EF4-FFF2-40B4-BE49-F238E27FC236}">
                  <a16:creationId xmlns:a16="http://schemas.microsoft.com/office/drawing/2014/main" id="{1A2F5F78-A71C-4864-93DF-E6506B0C663D}"/>
                </a:ext>
              </a:extLst>
            </p:cNvPr>
            <p:cNvSpPr/>
            <p:nvPr/>
          </p:nvSpPr>
          <p:spPr>
            <a:xfrm>
              <a:off x="3424554" y="2523186"/>
              <a:ext cx="1313856" cy="381782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hu-HU" sz="1100" dirty="0"/>
                <a:t>Tesztelés</a:t>
              </a:r>
            </a:p>
          </p:txBody>
        </p:sp>
        <p:sp>
          <p:nvSpPr>
            <p:cNvPr id="73" name="Rectangle: Rounded Corners 11">
              <a:extLst>
                <a:ext uri="{FF2B5EF4-FFF2-40B4-BE49-F238E27FC236}">
                  <a16:creationId xmlns:a16="http://schemas.microsoft.com/office/drawing/2014/main" id="{4F9A8006-8D1E-4AC8-95AB-A19ACA5D9124}"/>
                </a:ext>
              </a:extLst>
            </p:cNvPr>
            <p:cNvSpPr/>
            <p:nvPr/>
          </p:nvSpPr>
          <p:spPr>
            <a:xfrm>
              <a:off x="4081482" y="3016700"/>
              <a:ext cx="1313856" cy="381782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hu-HU" sz="1100" dirty="0"/>
                <a:t>Karbantartás</a:t>
              </a:r>
            </a:p>
          </p:txBody>
        </p:sp>
        <p:cxnSp>
          <p:nvCxnSpPr>
            <p:cNvPr id="74" name="Straight Connector 15">
              <a:extLst>
                <a:ext uri="{FF2B5EF4-FFF2-40B4-BE49-F238E27FC236}">
                  <a16:creationId xmlns:a16="http://schemas.microsoft.com/office/drawing/2014/main" id="{C3792779-D1D8-4D69-A6F7-1388E3B2EA28}"/>
                </a:ext>
              </a:extLst>
            </p:cNvPr>
            <p:cNvCxnSpPr>
              <a:cxnSpLocks/>
              <a:stCxn id="67" idx="3"/>
            </p:cNvCxnSpPr>
            <p:nvPr/>
          </p:nvCxnSpPr>
          <p:spPr>
            <a:xfrm>
              <a:off x="1453772" y="259324"/>
              <a:ext cx="349038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21">
              <a:extLst>
                <a:ext uri="{FF2B5EF4-FFF2-40B4-BE49-F238E27FC236}">
                  <a16:creationId xmlns:a16="http://schemas.microsoft.com/office/drawing/2014/main" id="{165472E3-574B-447A-B870-E6662B6CEF98}"/>
                </a:ext>
              </a:extLst>
            </p:cNvPr>
            <p:cNvCxnSpPr>
              <a:cxnSpLocks/>
            </p:cNvCxnSpPr>
            <p:nvPr/>
          </p:nvCxnSpPr>
          <p:spPr>
            <a:xfrm>
              <a:off x="1802810" y="259324"/>
              <a:ext cx="0" cy="237159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23">
              <a:extLst>
                <a:ext uri="{FF2B5EF4-FFF2-40B4-BE49-F238E27FC236}">
                  <a16:creationId xmlns:a16="http://schemas.microsoft.com/office/drawing/2014/main" id="{8268C171-7C49-4C1E-B6F6-56FF11B02CE6}"/>
                </a:ext>
              </a:extLst>
            </p:cNvPr>
            <p:cNvCxnSpPr>
              <a:cxnSpLocks/>
            </p:cNvCxnSpPr>
            <p:nvPr/>
          </p:nvCxnSpPr>
          <p:spPr>
            <a:xfrm>
              <a:off x="2109109" y="752603"/>
              <a:ext cx="349038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24">
              <a:extLst>
                <a:ext uri="{FF2B5EF4-FFF2-40B4-BE49-F238E27FC236}">
                  <a16:creationId xmlns:a16="http://schemas.microsoft.com/office/drawing/2014/main" id="{E36B6E8C-47F6-46F3-A199-DE9825D2B4FA}"/>
                </a:ext>
              </a:extLst>
            </p:cNvPr>
            <p:cNvCxnSpPr>
              <a:cxnSpLocks/>
            </p:cNvCxnSpPr>
            <p:nvPr/>
          </p:nvCxnSpPr>
          <p:spPr>
            <a:xfrm>
              <a:off x="2458147" y="750802"/>
              <a:ext cx="0" cy="237159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27">
              <a:extLst>
                <a:ext uri="{FF2B5EF4-FFF2-40B4-BE49-F238E27FC236}">
                  <a16:creationId xmlns:a16="http://schemas.microsoft.com/office/drawing/2014/main" id="{7E0BE1A4-89C3-4FB0-B27E-F7CE8034BFE9}"/>
                </a:ext>
              </a:extLst>
            </p:cNvPr>
            <p:cNvCxnSpPr>
              <a:cxnSpLocks/>
            </p:cNvCxnSpPr>
            <p:nvPr/>
          </p:nvCxnSpPr>
          <p:spPr>
            <a:xfrm>
              <a:off x="2687108" y="1244082"/>
              <a:ext cx="349038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28">
              <a:extLst>
                <a:ext uri="{FF2B5EF4-FFF2-40B4-BE49-F238E27FC236}">
                  <a16:creationId xmlns:a16="http://schemas.microsoft.com/office/drawing/2014/main" id="{79C43AE1-02D7-48A5-8105-7B886B039A13}"/>
                </a:ext>
              </a:extLst>
            </p:cNvPr>
            <p:cNvCxnSpPr>
              <a:cxnSpLocks/>
            </p:cNvCxnSpPr>
            <p:nvPr/>
          </p:nvCxnSpPr>
          <p:spPr>
            <a:xfrm>
              <a:off x="3036145" y="1242282"/>
              <a:ext cx="0" cy="237159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29">
              <a:extLst>
                <a:ext uri="{FF2B5EF4-FFF2-40B4-BE49-F238E27FC236}">
                  <a16:creationId xmlns:a16="http://schemas.microsoft.com/office/drawing/2014/main" id="{7DE81DDA-5AA6-4C82-BA67-C840F1A51CB4}"/>
                </a:ext>
              </a:extLst>
            </p:cNvPr>
            <p:cNvCxnSpPr>
              <a:cxnSpLocks/>
            </p:cNvCxnSpPr>
            <p:nvPr/>
          </p:nvCxnSpPr>
          <p:spPr>
            <a:xfrm>
              <a:off x="3322092" y="1689295"/>
              <a:ext cx="349038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30">
              <a:extLst>
                <a:ext uri="{FF2B5EF4-FFF2-40B4-BE49-F238E27FC236}">
                  <a16:creationId xmlns:a16="http://schemas.microsoft.com/office/drawing/2014/main" id="{E586A0C7-C411-45FB-97E4-2E60073A418C}"/>
                </a:ext>
              </a:extLst>
            </p:cNvPr>
            <p:cNvCxnSpPr>
              <a:cxnSpLocks/>
            </p:cNvCxnSpPr>
            <p:nvPr/>
          </p:nvCxnSpPr>
          <p:spPr>
            <a:xfrm>
              <a:off x="3671130" y="1687494"/>
              <a:ext cx="0" cy="237159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31">
              <a:extLst>
                <a:ext uri="{FF2B5EF4-FFF2-40B4-BE49-F238E27FC236}">
                  <a16:creationId xmlns:a16="http://schemas.microsoft.com/office/drawing/2014/main" id="{ACDF6C9A-EBAE-4B51-AE86-DA702A33F666}"/>
                </a:ext>
              </a:extLst>
            </p:cNvPr>
            <p:cNvCxnSpPr>
              <a:cxnSpLocks/>
            </p:cNvCxnSpPr>
            <p:nvPr/>
          </p:nvCxnSpPr>
          <p:spPr>
            <a:xfrm>
              <a:off x="3993711" y="2225719"/>
              <a:ext cx="349038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32">
              <a:extLst>
                <a:ext uri="{FF2B5EF4-FFF2-40B4-BE49-F238E27FC236}">
                  <a16:creationId xmlns:a16="http://schemas.microsoft.com/office/drawing/2014/main" id="{5290A80D-C054-4C34-A862-D13880A29A54}"/>
                </a:ext>
              </a:extLst>
            </p:cNvPr>
            <p:cNvCxnSpPr>
              <a:cxnSpLocks/>
            </p:cNvCxnSpPr>
            <p:nvPr/>
          </p:nvCxnSpPr>
          <p:spPr>
            <a:xfrm>
              <a:off x="4342748" y="2223919"/>
              <a:ext cx="0" cy="237159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33">
              <a:extLst>
                <a:ext uri="{FF2B5EF4-FFF2-40B4-BE49-F238E27FC236}">
                  <a16:creationId xmlns:a16="http://schemas.microsoft.com/office/drawing/2014/main" id="{E780D85F-7999-4638-B8C7-36857F58D047}"/>
                </a:ext>
              </a:extLst>
            </p:cNvPr>
            <p:cNvCxnSpPr>
              <a:cxnSpLocks/>
            </p:cNvCxnSpPr>
            <p:nvPr/>
          </p:nvCxnSpPr>
          <p:spPr>
            <a:xfrm>
              <a:off x="4697892" y="2715877"/>
              <a:ext cx="349038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34">
              <a:extLst>
                <a:ext uri="{FF2B5EF4-FFF2-40B4-BE49-F238E27FC236}">
                  <a16:creationId xmlns:a16="http://schemas.microsoft.com/office/drawing/2014/main" id="{CFFECD07-1E25-4D6C-9E6C-0CB283793B3F}"/>
                </a:ext>
              </a:extLst>
            </p:cNvPr>
            <p:cNvCxnSpPr>
              <a:cxnSpLocks/>
            </p:cNvCxnSpPr>
            <p:nvPr/>
          </p:nvCxnSpPr>
          <p:spPr>
            <a:xfrm>
              <a:off x="5046930" y="2714076"/>
              <a:ext cx="0" cy="237159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Group 39">
              <a:extLst>
                <a:ext uri="{FF2B5EF4-FFF2-40B4-BE49-F238E27FC236}">
                  <a16:creationId xmlns:a16="http://schemas.microsoft.com/office/drawing/2014/main" id="{C6BC6C19-0EC5-4715-8DC0-5424466D40BF}"/>
                </a:ext>
              </a:extLst>
            </p:cNvPr>
            <p:cNvGrpSpPr/>
            <p:nvPr/>
          </p:nvGrpSpPr>
          <p:grpSpPr>
            <a:xfrm rot="10800000">
              <a:off x="3762715" y="2967076"/>
              <a:ext cx="349038" cy="237159"/>
              <a:chOff x="2636838" y="3392108"/>
              <a:chExt cx="272256" cy="241300"/>
            </a:xfrm>
          </p:grpSpPr>
          <p:cxnSp>
            <p:nvCxnSpPr>
              <p:cNvPr id="103" name="Straight Connector 35">
                <a:extLst>
                  <a:ext uri="{FF2B5EF4-FFF2-40B4-BE49-F238E27FC236}">
                    <a16:creationId xmlns:a16="http://schemas.microsoft.com/office/drawing/2014/main" id="{5D4A4ECC-C9F9-4DA4-AB4F-F442B272E1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36838" y="3393940"/>
                <a:ext cx="272256" cy="0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36">
                <a:extLst>
                  <a:ext uri="{FF2B5EF4-FFF2-40B4-BE49-F238E27FC236}">
                    <a16:creationId xmlns:a16="http://schemas.microsoft.com/office/drawing/2014/main" id="{F118B0BF-C73C-4BEC-AB15-966873BB3A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9094" y="3392108"/>
                <a:ext cx="0" cy="24130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8" name="Group 40">
              <a:extLst>
                <a:ext uri="{FF2B5EF4-FFF2-40B4-BE49-F238E27FC236}">
                  <a16:creationId xmlns:a16="http://schemas.microsoft.com/office/drawing/2014/main" id="{ADDFC6F5-E952-495D-B04D-EF8D52B127F4}"/>
                </a:ext>
              </a:extLst>
            </p:cNvPr>
            <p:cNvGrpSpPr/>
            <p:nvPr/>
          </p:nvGrpSpPr>
          <p:grpSpPr>
            <a:xfrm rot="10800000">
              <a:off x="3147574" y="2476919"/>
              <a:ext cx="349038" cy="237159"/>
              <a:chOff x="2636838" y="3392108"/>
              <a:chExt cx="272256" cy="241300"/>
            </a:xfrm>
          </p:grpSpPr>
          <p:cxnSp>
            <p:nvCxnSpPr>
              <p:cNvPr id="101" name="Straight Connector 41">
                <a:extLst>
                  <a:ext uri="{FF2B5EF4-FFF2-40B4-BE49-F238E27FC236}">
                    <a16:creationId xmlns:a16="http://schemas.microsoft.com/office/drawing/2014/main" id="{98A50D71-C35B-4FD3-B367-EE84D39A7D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36838" y="3393940"/>
                <a:ext cx="272256" cy="0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Arrow Connector 42">
                <a:extLst>
                  <a:ext uri="{FF2B5EF4-FFF2-40B4-BE49-F238E27FC236}">
                    <a16:creationId xmlns:a16="http://schemas.microsoft.com/office/drawing/2014/main" id="{AA526A88-B0D4-4C90-BCE6-8B49F94C15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9094" y="3392108"/>
                <a:ext cx="0" cy="24130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9" name="Group 43">
              <a:extLst>
                <a:ext uri="{FF2B5EF4-FFF2-40B4-BE49-F238E27FC236}">
                  <a16:creationId xmlns:a16="http://schemas.microsoft.com/office/drawing/2014/main" id="{28E3F513-EDC4-4C2D-A408-DDDD0DE61EF3}"/>
                </a:ext>
              </a:extLst>
            </p:cNvPr>
            <p:cNvGrpSpPr/>
            <p:nvPr/>
          </p:nvGrpSpPr>
          <p:grpSpPr>
            <a:xfrm rot="10800000">
              <a:off x="2458147" y="1988083"/>
              <a:ext cx="349038" cy="237159"/>
              <a:chOff x="2636838" y="3392108"/>
              <a:chExt cx="272256" cy="241300"/>
            </a:xfrm>
          </p:grpSpPr>
          <p:cxnSp>
            <p:nvCxnSpPr>
              <p:cNvPr id="99" name="Straight Connector 44">
                <a:extLst>
                  <a:ext uri="{FF2B5EF4-FFF2-40B4-BE49-F238E27FC236}">
                    <a16:creationId xmlns:a16="http://schemas.microsoft.com/office/drawing/2014/main" id="{7F5A22FA-70C9-40DB-9238-08C531576F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36838" y="3393940"/>
                <a:ext cx="272256" cy="0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45">
                <a:extLst>
                  <a:ext uri="{FF2B5EF4-FFF2-40B4-BE49-F238E27FC236}">
                    <a16:creationId xmlns:a16="http://schemas.microsoft.com/office/drawing/2014/main" id="{E6D22B5F-0BFD-46A2-867A-41BEF242FD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9094" y="3392108"/>
                <a:ext cx="0" cy="24130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0" name="Group 46">
              <a:extLst>
                <a:ext uri="{FF2B5EF4-FFF2-40B4-BE49-F238E27FC236}">
                  <a16:creationId xmlns:a16="http://schemas.microsoft.com/office/drawing/2014/main" id="{ED40D74F-8E4F-4E10-82EA-05CDD724DB55}"/>
                </a:ext>
              </a:extLst>
            </p:cNvPr>
            <p:cNvGrpSpPr/>
            <p:nvPr/>
          </p:nvGrpSpPr>
          <p:grpSpPr>
            <a:xfrm rot="10800000">
              <a:off x="1812893" y="1496604"/>
              <a:ext cx="349038" cy="237159"/>
              <a:chOff x="2636838" y="3392108"/>
              <a:chExt cx="272256" cy="241300"/>
            </a:xfrm>
          </p:grpSpPr>
          <p:cxnSp>
            <p:nvCxnSpPr>
              <p:cNvPr id="97" name="Straight Connector 47">
                <a:extLst>
                  <a:ext uri="{FF2B5EF4-FFF2-40B4-BE49-F238E27FC236}">
                    <a16:creationId xmlns:a16="http://schemas.microsoft.com/office/drawing/2014/main" id="{C4DB271D-F3A0-4A55-AAE0-DE053AF037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36838" y="3393940"/>
                <a:ext cx="272256" cy="0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48">
                <a:extLst>
                  <a:ext uri="{FF2B5EF4-FFF2-40B4-BE49-F238E27FC236}">
                    <a16:creationId xmlns:a16="http://schemas.microsoft.com/office/drawing/2014/main" id="{1DB58F2E-8275-45C9-A22A-20CBCB9777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9094" y="3392108"/>
                <a:ext cx="0" cy="24130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49">
              <a:extLst>
                <a:ext uri="{FF2B5EF4-FFF2-40B4-BE49-F238E27FC236}">
                  <a16:creationId xmlns:a16="http://schemas.microsoft.com/office/drawing/2014/main" id="{307D7194-384A-48B9-80DB-9D277C0EF55D}"/>
                </a:ext>
              </a:extLst>
            </p:cNvPr>
            <p:cNvGrpSpPr/>
            <p:nvPr/>
          </p:nvGrpSpPr>
          <p:grpSpPr>
            <a:xfrm rot="10800000">
              <a:off x="1185253" y="1003322"/>
              <a:ext cx="349038" cy="237159"/>
              <a:chOff x="2636838" y="3392108"/>
              <a:chExt cx="272256" cy="241300"/>
            </a:xfrm>
          </p:grpSpPr>
          <p:cxnSp>
            <p:nvCxnSpPr>
              <p:cNvPr id="95" name="Straight Connector 50">
                <a:extLst>
                  <a:ext uri="{FF2B5EF4-FFF2-40B4-BE49-F238E27FC236}">
                    <a16:creationId xmlns:a16="http://schemas.microsoft.com/office/drawing/2014/main" id="{C2D01D78-8D30-4A81-98F1-738930ED08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36838" y="3393940"/>
                <a:ext cx="272256" cy="0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51">
                <a:extLst>
                  <a:ext uri="{FF2B5EF4-FFF2-40B4-BE49-F238E27FC236}">
                    <a16:creationId xmlns:a16="http://schemas.microsoft.com/office/drawing/2014/main" id="{B0CA95E4-DC02-4F81-AFD3-2380D1D2CD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9094" y="3392108"/>
                <a:ext cx="0" cy="24130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2" name="Group 52">
              <a:extLst>
                <a:ext uri="{FF2B5EF4-FFF2-40B4-BE49-F238E27FC236}">
                  <a16:creationId xmlns:a16="http://schemas.microsoft.com/office/drawing/2014/main" id="{3F111C75-8C5D-4D04-9376-9C5D17DFA46F}"/>
                </a:ext>
              </a:extLst>
            </p:cNvPr>
            <p:cNvGrpSpPr/>
            <p:nvPr/>
          </p:nvGrpSpPr>
          <p:grpSpPr>
            <a:xfrm rot="10800000">
              <a:off x="448602" y="515444"/>
              <a:ext cx="349038" cy="237159"/>
              <a:chOff x="2636838" y="3392108"/>
              <a:chExt cx="272256" cy="241300"/>
            </a:xfrm>
          </p:grpSpPr>
          <p:cxnSp>
            <p:nvCxnSpPr>
              <p:cNvPr id="93" name="Straight Connector 53">
                <a:extLst>
                  <a:ext uri="{FF2B5EF4-FFF2-40B4-BE49-F238E27FC236}">
                    <a16:creationId xmlns:a16="http://schemas.microsoft.com/office/drawing/2014/main" id="{873DA285-CCBC-47E7-B7DC-F906B378FC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36838" y="3393940"/>
                <a:ext cx="272256" cy="0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54">
                <a:extLst>
                  <a:ext uri="{FF2B5EF4-FFF2-40B4-BE49-F238E27FC236}">
                    <a16:creationId xmlns:a16="http://schemas.microsoft.com/office/drawing/2014/main" id="{BEFB5181-70E8-41CE-AEC6-2DC2CB08B1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9094" y="3392108"/>
                <a:ext cx="0" cy="24130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1C870A9F-083A-411E-8429-E115792F0431}"/>
              </a:ext>
            </a:extLst>
          </p:cNvPr>
          <p:cNvCxnSpPr>
            <a:cxnSpLocks/>
          </p:cNvCxnSpPr>
          <p:nvPr/>
        </p:nvCxnSpPr>
        <p:spPr>
          <a:xfrm>
            <a:off x="0" y="3524250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2EFE7A85-2232-419D-96F8-0A807FB11EC5}"/>
              </a:ext>
            </a:extLst>
          </p:cNvPr>
          <p:cNvSpPr txBox="1"/>
          <p:nvPr/>
        </p:nvSpPr>
        <p:spPr>
          <a:xfrm>
            <a:off x="5761902" y="571707"/>
            <a:ext cx="653380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Vízesés modell</a:t>
            </a:r>
          </a:p>
          <a:p>
            <a:endParaRPr lang="hu-HU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600" dirty="0"/>
              <a:t>Első publikált szoftver fejlesztési modell.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600" dirty="0"/>
              <a:t>Az egész fejlesztés egyetlen folyamat.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600" dirty="0"/>
              <a:t>Az egyes fázisokra nincs visszatérés mert akkor onnan kell újra kezdeni.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600" dirty="0"/>
              <a:t>A következő fázis csak akkor indulhat ha az előző befejeződött.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600" dirty="0"/>
              <a:t>Rugalmatlan.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600" dirty="0"/>
              <a:t>Korai szakaszban komoly döntéseket kell hozni.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600" dirty="0"/>
              <a:t>Tesztelés csak a legvégén van.</a:t>
            </a:r>
          </a:p>
        </p:txBody>
      </p:sp>
      <p:sp>
        <p:nvSpPr>
          <p:cNvPr id="105" name="Szövegdoboz 104">
            <a:extLst>
              <a:ext uri="{FF2B5EF4-FFF2-40B4-BE49-F238E27FC236}">
                <a16:creationId xmlns:a16="http://schemas.microsoft.com/office/drawing/2014/main" id="{4B184FB6-0C0A-4AD5-9333-A893388F889F}"/>
              </a:ext>
            </a:extLst>
          </p:cNvPr>
          <p:cNvSpPr txBox="1"/>
          <p:nvPr/>
        </p:nvSpPr>
        <p:spPr>
          <a:xfrm>
            <a:off x="364183" y="4060709"/>
            <a:ext cx="653380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V-modell</a:t>
            </a:r>
          </a:p>
          <a:p>
            <a:endParaRPr lang="hu-HU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600" dirty="0"/>
              <a:t>Vízesés modell továbbfejlesztése.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600" dirty="0"/>
              <a:t>Minden fejlesztési fázishoz tartozik egy tesztelési fázis.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600" dirty="0"/>
              <a:t>Ha a tesztelés hibát ad akkor vissza a fejlesztési fázishoz.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600" dirty="0"/>
              <a:t>Nagyon merev.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600" dirty="0"/>
              <a:t>Változásokhoz nem alkalmazkodik.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1600" dirty="0"/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1E5FF440-100B-474C-ACDC-1FD97E5BCDC4}"/>
              </a:ext>
            </a:extLst>
          </p:cNvPr>
          <p:cNvSpPr txBox="1"/>
          <p:nvPr/>
        </p:nvSpPr>
        <p:spPr>
          <a:xfrm>
            <a:off x="10290533" y="144504"/>
            <a:ext cx="1949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/>
              <a:t>Lineáris modellek</a:t>
            </a:r>
          </a:p>
        </p:txBody>
      </p:sp>
    </p:spTree>
    <p:extLst>
      <p:ext uri="{BB962C8B-B14F-4D97-AF65-F5344CB8AC3E}">
        <p14:creationId xmlns:p14="http://schemas.microsoft.com/office/powerpoint/2010/main" val="956705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E1077E56-133C-44A8-970C-D248198B4E8C}"/>
              </a:ext>
            </a:extLst>
          </p:cNvPr>
          <p:cNvCxnSpPr>
            <a:cxnSpLocks/>
          </p:cNvCxnSpPr>
          <p:nvPr/>
        </p:nvCxnSpPr>
        <p:spPr>
          <a:xfrm flipH="1">
            <a:off x="1" y="3594100"/>
            <a:ext cx="121919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2F7FCEEE-FBDD-4B21-8B11-7D74234BBBAE}"/>
              </a:ext>
            </a:extLst>
          </p:cNvPr>
          <p:cNvSpPr txBox="1"/>
          <p:nvPr/>
        </p:nvSpPr>
        <p:spPr>
          <a:xfrm>
            <a:off x="123420" y="239600"/>
            <a:ext cx="2571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b="1" dirty="0"/>
              <a:t>Prototípus modell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EB86CDDD-EF6A-4C7E-8661-8365AADF0FA1}"/>
              </a:ext>
            </a:extLst>
          </p:cNvPr>
          <p:cNvSpPr txBox="1"/>
          <p:nvPr/>
        </p:nvSpPr>
        <p:spPr>
          <a:xfrm>
            <a:off x="7460537" y="3921252"/>
            <a:ext cx="4597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b="1" dirty="0"/>
              <a:t>RAD</a:t>
            </a:r>
          </a:p>
          <a:p>
            <a:pPr algn="ctr"/>
            <a:r>
              <a:rPr lang="hu-HU" sz="2400" b="1" dirty="0"/>
              <a:t>(Rapid </a:t>
            </a:r>
            <a:r>
              <a:rPr lang="hu-HU" sz="2400" b="1" dirty="0" err="1"/>
              <a:t>Application</a:t>
            </a:r>
            <a:r>
              <a:rPr lang="hu-HU" sz="2400" b="1" dirty="0"/>
              <a:t> </a:t>
            </a:r>
            <a:r>
              <a:rPr lang="hu-HU" sz="2400" b="1" dirty="0" err="1"/>
              <a:t>Development</a:t>
            </a:r>
            <a:r>
              <a:rPr lang="hu-HU" sz="2400" b="1" dirty="0"/>
              <a:t>)</a:t>
            </a:r>
          </a:p>
        </p:txBody>
      </p:sp>
      <p:grpSp>
        <p:nvGrpSpPr>
          <p:cNvPr id="94" name="Csoportba foglalás 93">
            <a:extLst>
              <a:ext uri="{FF2B5EF4-FFF2-40B4-BE49-F238E27FC236}">
                <a16:creationId xmlns:a16="http://schemas.microsoft.com/office/drawing/2014/main" id="{A0E87514-A120-4B10-8282-49282439ECF6}"/>
              </a:ext>
            </a:extLst>
          </p:cNvPr>
          <p:cNvGrpSpPr/>
          <p:nvPr/>
        </p:nvGrpSpPr>
        <p:grpSpPr>
          <a:xfrm>
            <a:off x="5754168" y="369332"/>
            <a:ext cx="6010769" cy="2575467"/>
            <a:chOff x="85230" y="3826431"/>
            <a:chExt cx="6010769" cy="2575467"/>
          </a:xfrm>
        </p:grpSpPr>
        <p:sp>
          <p:nvSpPr>
            <p:cNvPr id="5" name="Téglalap: lekerekített 4">
              <a:extLst>
                <a:ext uri="{FF2B5EF4-FFF2-40B4-BE49-F238E27FC236}">
                  <a16:creationId xmlns:a16="http://schemas.microsoft.com/office/drawing/2014/main" id="{5E68E7F0-C28D-47AF-A44B-FD2BB6606962}"/>
                </a:ext>
              </a:extLst>
            </p:cNvPr>
            <p:cNvSpPr/>
            <p:nvPr/>
          </p:nvSpPr>
          <p:spPr>
            <a:xfrm>
              <a:off x="85230" y="4594042"/>
              <a:ext cx="1313854" cy="381782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100" dirty="0"/>
                <a:t>Követelmények</a:t>
              </a:r>
            </a:p>
            <a:p>
              <a:pPr algn="ctr"/>
              <a:r>
                <a:rPr lang="hu-HU" sz="1100" dirty="0"/>
                <a:t>meghatározása</a:t>
              </a:r>
            </a:p>
          </p:txBody>
        </p:sp>
        <p:sp>
          <p:nvSpPr>
            <p:cNvPr id="6" name="Téglalap: lekerekített 5">
              <a:extLst>
                <a:ext uri="{FF2B5EF4-FFF2-40B4-BE49-F238E27FC236}">
                  <a16:creationId xmlns:a16="http://schemas.microsoft.com/office/drawing/2014/main" id="{2FB8359E-38E6-4FC9-98AC-0BC29416A5A7}"/>
                </a:ext>
              </a:extLst>
            </p:cNvPr>
            <p:cNvSpPr/>
            <p:nvPr/>
          </p:nvSpPr>
          <p:spPr>
            <a:xfrm>
              <a:off x="1791599" y="4589995"/>
              <a:ext cx="1313851" cy="381782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100" dirty="0"/>
                <a:t>Design</a:t>
              </a:r>
            </a:p>
          </p:txBody>
        </p:sp>
        <p:sp>
          <p:nvSpPr>
            <p:cNvPr id="7" name="Téglalap: lekerekített 6">
              <a:extLst>
                <a:ext uri="{FF2B5EF4-FFF2-40B4-BE49-F238E27FC236}">
                  <a16:creationId xmlns:a16="http://schemas.microsoft.com/office/drawing/2014/main" id="{ACC7869F-EFD6-40DC-96A0-8F002F95CAD3}"/>
                </a:ext>
              </a:extLst>
            </p:cNvPr>
            <p:cNvSpPr/>
            <p:nvPr/>
          </p:nvSpPr>
          <p:spPr>
            <a:xfrm>
              <a:off x="3105450" y="3826431"/>
              <a:ext cx="1313851" cy="381782"/>
            </a:xfrm>
            <a:prstGeom prst="round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100" dirty="0"/>
                <a:t>Prototípus</a:t>
              </a:r>
            </a:p>
            <a:p>
              <a:pPr algn="ctr"/>
              <a:r>
                <a:rPr lang="hu-HU" sz="1100" dirty="0"/>
                <a:t>készítése</a:t>
              </a:r>
            </a:p>
          </p:txBody>
        </p:sp>
        <p:sp>
          <p:nvSpPr>
            <p:cNvPr id="8" name="Téglalap: lekerekített 7">
              <a:extLst>
                <a:ext uri="{FF2B5EF4-FFF2-40B4-BE49-F238E27FC236}">
                  <a16:creationId xmlns:a16="http://schemas.microsoft.com/office/drawing/2014/main" id="{49421285-ABEF-4276-AE76-98E545224168}"/>
                </a:ext>
              </a:extLst>
            </p:cNvPr>
            <p:cNvSpPr/>
            <p:nvPr/>
          </p:nvSpPr>
          <p:spPr>
            <a:xfrm>
              <a:off x="4419301" y="4589995"/>
              <a:ext cx="1313841" cy="381782"/>
            </a:xfrm>
            <a:prstGeom prst="roundRect">
              <a:avLst/>
            </a:prstGeom>
            <a:solidFill>
              <a:srgbClr val="F19B61"/>
            </a:solidFill>
            <a:ln>
              <a:solidFill>
                <a:srgbClr val="F19B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100" dirty="0"/>
                <a:t>Ügyfelek</a:t>
              </a:r>
            </a:p>
            <a:p>
              <a:pPr algn="ctr"/>
              <a:r>
                <a:rPr lang="hu-HU" sz="1100" dirty="0"/>
                <a:t>értesítése</a:t>
              </a:r>
            </a:p>
          </p:txBody>
        </p:sp>
        <p:sp>
          <p:nvSpPr>
            <p:cNvPr id="9" name="Téglalap: lekerekített 8">
              <a:extLst>
                <a:ext uri="{FF2B5EF4-FFF2-40B4-BE49-F238E27FC236}">
                  <a16:creationId xmlns:a16="http://schemas.microsoft.com/office/drawing/2014/main" id="{AE635AD9-8A78-42A7-88B2-F3FA513584C7}"/>
                </a:ext>
              </a:extLst>
            </p:cNvPr>
            <p:cNvSpPr/>
            <p:nvPr/>
          </p:nvSpPr>
          <p:spPr>
            <a:xfrm>
              <a:off x="3105464" y="5353559"/>
              <a:ext cx="1313837" cy="381783"/>
            </a:xfrm>
            <a:prstGeom prst="round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100" dirty="0"/>
                <a:t>Felülvizsgálat</a:t>
              </a:r>
            </a:p>
          </p:txBody>
        </p:sp>
        <p:sp>
          <p:nvSpPr>
            <p:cNvPr id="10" name="Téglalap: lekerekített 9">
              <a:extLst>
                <a:ext uri="{FF2B5EF4-FFF2-40B4-BE49-F238E27FC236}">
                  <a16:creationId xmlns:a16="http://schemas.microsoft.com/office/drawing/2014/main" id="{1BDA82AE-90F6-4D4A-82D6-6591CB8E7F35}"/>
                </a:ext>
              </a:extLst>
            </p:cNvPr>
            <p:cNvSpPr/>
            <p:nvPr/>
          </p:nvSpPr>
          <p:spPr>
            <a:xfrm>
              <a:off x="4782162" y="6020116"/>
              <a:ext cx="1313837" cy="381782"/>
            </a:xfrm>
            <a:prstGeom prst="roundRect">
              <a:avLst/>
            </a:prstGeom>
            <a:solidFill>
              <a:srgbClr val="F19B61"/>
            </a:solidFill>
            <a:ln>
              <a:solidFill>
                <a:srgbClr val="F19B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100" dirty="0"/>
                <a:t>Fejlesztés</a:t>
              </a:r>
            </a:p>
          </p:txBody>
        </p:sp>
        <p:sp>
          <p:nvSpPr>
            <p:cNvPr id="11" name="Téglalap: lekerekített 10">
              <a:extLst>
                <a:ext uri="{FF2B5EF4-FFF2-40B4-BE49-F238E27FC236}">
                  <a16:creationId xmlns:a16="http://schemas.microsoft.com/office/drawing/2014/main" id="{2CB11F1B-75F0-4858-96EE-D1362F1860E7}"/>
                </a:ext>
              </a:extLst>
            </p:cNvPr>
            <p:cNvSpPr/>
            <p:nvPr/>
          </p:nvSpPr>
          <p:spPr>
            <a:xfrm>
              <a:off x="3131975" y="6020115"/>
              <a:ext cx="1313837" cy="381783"/>
            </a:xfrm>
            <a:prstGeom prst="round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100" dirty="0"/>
                <a:t>Tesztelés</a:t>
              </a:r>
            </a:p>
          </p:txBody>
        </p:sp>
        <p:sp>
          <p:nvSpPr>
            <p:cNvPr id="12" name="Téglalap: lekerekített 11">
              <a:extLst>
                <a:ext uri="{FF2B5EF4-FFF2-40B4-BE49-F238E27FC236}">
                  <a16:creationId xmlns:a16="http://schemas.microsoft.com/office/drawing/2014/main" id="{B4874F01-BAA5-403C-A683-B5E4401C2CE0}"/>
                </a:ext>
              </a:extLst>
            </p:cNvPr>
            <p:cNvSpPr/>
            <p:nvPr/>
          </p:nvSpPr>
          <p:spPr>
            <a:xfrm>
              <a:off x="1526638" y="6020114"/>
              <a:ext cx="1313837" cy="381783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050" dirty="0"/>
                <a:t>Karbantartás</a:t>
              </a:r>
            </a:p>
          </p:txBody>
        </p:sp>
        <p:cxnSp>
          <p:nvCxnSpPr>
            <p:cNvPr id="19" name="Egyenes összekötő nyíllal 18">
              <a:extLst>
                <a:ext uri="{FF2B5EF4-FFF2-40B4-BE49-F238E27FC236}">
                  <a16:creationId xmlns:a16="http://schemas.microsoft.com/office/drawing/2014/main" id="{0FE2168B-8967-4B2D-A09D-823079008C52}"/>
                </a:ext>
              </a:extLst>
            </p:cNvPr>
            <p:cNvCxnSpPr>
              <a:cxnSpLocks/>
              <a:stCxn id="5" idx="3"/>
              <a:endCxn id="6" idx="1"/>
            </p:cNvCxnSpPr>
            <p:nvPr/>
          </p:nvCxnSpPr>
          <p:spPr>
            <a:xfrm flipV="1">
              <a:off x="1399084" y="4780886"/>
              <a:ext cx="392515" cy="4047"/>
            </a:xfrm>
            <a:prstGeom prst="straightConnector1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Összekötő: görbe 19">
              <a:extLst>
                <a:ext uri="{FF2B5EF4-FFF2-40B4-BE49-F238E27FC236}">
                  <a16:creationId xmlns:a16="http://schemas.microsoft.com/office/drawing/2014/main" id="{4F806073-75B2-449C-82C9-DC7E7D723367}"/>
                </a:ext>
              </a:extLst>
            </p:cNvPr>
            <p:cNvCxnSpPr>
              <a:cxnSpLocks/>
              <a:stCxn id="6" idx="0"/>
              <a:endCxn id="7" idx="1"/>
            </p:cNvCxnSpPr>
            <p:nvPr/>
          </p:nvCxnSpPr>
          <p:spPr>
            <a:xfrm rot="5400000" flipH="1" flipV="1">
              <a:off x="2490651" y="3975197"/>
              <a:ext cx="572673" cy="656925"/>
            </a:xfrm>
            <a:prstGeom prst="curvedConnector2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Összekötő: görbe 21">
              <a:extLst>
                <a:ext uri="{FF2B5EF4-FFF2-40B4-BE49-F238E27FC236}">
                  <a16:creationId xmlns:a16="http://schemas.microsoft.com/office/drawing/2014/main" id="{919784E6-863E-413A-8010-10F21815F7E9}"/>
                </a:ext>
              </a:extLst>
            </p:cNvPr>
            <p:cNvCxnSpPr>
              <a:cxnSpLocks/>
              <a:stCxn id="7" idx="3"/>
              <a:endCxn id="8" idx="0"/>
            </p:cNvCxnSpPr>
            <p:nvPr/>
          </p:nvCxnSpPr>
          <p:spPr>
            <a:xfrm>
              <a:off x="4419301" y="4017322"/>
              <a:ext cx="656921" cy="572673"/>
            </a:xfrm>
            <a:prstGeom prst="curvedConnector2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Összekötő: görbe 24">
              <a:extLst>
                <a:ext uri="{FF2B5EF4-FFF2-40B4-BE49-F238E27FC236}">
                  <a16:creationId xmlns:a16="http://schemas.microsoft.com/office/drawing/2014/main" id="{06323B03-F2F6-4C05-BFC0-3E908A98FA07}"/>
                </a:ext>
              </a:extLst>
            </p:cNvPr>
            <p:cNvCxnSpPr>
              <a:cxnSpLocks/>
              <a:stCxn id="8" idx="2"/>
              <a:endCxn id="9" idx="3"/>
            </p:cNvCxnSpPr>
            <p:nvPr/>
          </p:nvCxnSpPr>
          <p:spPr>
            <a:xfrm rot="5400000">
              <a:off x="4461425" y="4929654"/>
              <a:ext cx="572674" cy="656921"/>
            </a:xfrm>
            <a:prstGeom prst="curvedConnector2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Összekötő: görbe 27">
              <a:extLst>
                <a:ext uri="{FF2B5EF4-FFF2-40B4-BE49-F238E27FC236}">
                  <a16:creationId xmlns:a16="http://schemas.microsoft.com/office/drawing/2014/main" id="{39F1BE5D-334D-45C7-BEA9-7A45A3EC84D4}"/>
                </a:ext>
              </a:extLst>
            </p:cNvPr>
            <p:cNvCxnSpPr>
              <a:cxnSpLocks/>
              <a:stCxn id="9" idx="1"/>
              <a:endCxn id="6" idx="2"/>
            </p:cNvCxnSpPr>
            <p:nvPr/>
          </p:nvCxnSpPr>
          <p:spPr>
            <a:xfrm rot="10800000">
              <a:off x="2448526" y="4971777"/>
              <a:ext cx="656939" cy="572674"/>
            </a:xfrm>
            <a:prstGeom prst="curvedConnector2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Összekötő: görbe 30">
              <a:extLst>
                <a:ext uri="{FF2B5EF4-FFF2-40B4-BE49-F238E27FC236}">
                  <a16:creationId xmlns:a16="http://schemas.microsoft.com/office/drawing/2014/main" id="{1C8B5751-5B00-49C5-84BD-201D917CA49F}"/>
                </a:ext>
              </a:extLst>
            </p:cNvPr>
            <p:cNvCxnSpPr>
              <a:cxnSpLocks/>
              <a:stCxn id="8" idx="3"/>
              <a:endCxn id="10" idx="3"/>
            </p:cNvCxnSpPr>
            <p:nvPr/>
          </p:nvCxnSpPr>
          <p:spPr>
            <a:xfrm>
              <a:off x="5733142" y="4780886"/>
              <a:ext cx="362857" cy="1430121"/>
            </a:xfrm>
            <a:prstGeom prst="curvedConnector3">
              <a:avLst>
                <a:gd name="adj1" fmla="val 163000"/>
              </a:avLst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Egyenes összekötő nyíllal 34">
              <a:extLst>
                <a:ext uri="{FF2B5EF4-FFF2-40B4-BE49-F238E27FC236}">
                  <a16:creationId xmlns:a16="http://schemas.microsoft.com/office/drawing/2014/main" id="{C5DFB737-31C4-48D6-880E-F6A6793010E0}"/>
                </a:ext>
              </a:extLst>
            </p:cNvPr>
            <p:cNvCxnSpPr>
              <a:cxnSpLocks/>
              <a:stCxn id="10" idx="1"/>
              <a:endCxn id="11" idx="3"/>
            </p:cNvCxnSpPr>
            <p:nvPr/>
          </p:nvCxnSpPr>
          <p:spPr>
            <a:xfrm flipH="1">
              <a:off x="4445812" y="6211007"/>
              <a:ext cx="336350" cy="0"/>
            </a:xfrm>
            <a:prstGeom prst="straightConnector1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Egyenes összekötő nyíllal 37">
              <a:extLst>
                <a:ext uri="{FF2B5EF4-FFF2-40B4-BE49-F238E27FC236}">
                  <a16:creationId xmlns:a16="http://schemas.microsoft.com/office/drawing/2014/main" id="{CAC32C34-58EB-404C-846D-47ABDBDACE5C}"/>
                </a:ext>
              </a:extLst>
            </p:cNvPr>
            <p:cNvCxnSpPr>
              <a:cxnSpLocks/>
              <a:stCxn id="11" idx="1"/>
              <a:endCxn id="12" idx="3"/>
            </p:cNvCxnSpPr>
            <p:nvPr/>
          </p:nvCxnSpPr>
          <p:spPr>
            <a:xfrm flipH="1" flipV="1">
              <a:off x="2840475" y="6211006"/>
              <a:ext cx="291500" cy="1"/>
            </a:xfrm>
            <a:prstGeom prst="straightConnector1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1" name="Csoportba foglalás 150">
            <a:extLst>
              <a:ext uri="{FF2B5EF4-FFF2-40B4-BE49-F238E27FC236}">
                <a16:creationId xmlns:a16="http://schemas.microsoft.com/office/drawing/2014/main" id="{E6306320-5388-4CF6-A6D9-1C501B6B239E}"/>
              </a:ext>
            </a:extLst>
          </p:cNvPr>
          <p:cNvGrpSpPr/>
          <p:nvPr/>
        </p:nvGrpSpPr>
        <p:grpSpPr>
          <a:xfrm>
            <a:off x="321599" y="4100725"/>
            <a:ext cx="5432569" cy="2163057"/>
            <a:chOff x="1589550" y="-2401675"/>
            <a:chExt cx="5432569" cy="2163057"/>
          </a:xfrm>
        </p:grpSpPr>
        <p:sp>
          <p:nvSpPr>
            <p:cNvPr id="98" name="Ellipszis 97">
              <a:extLst>
                <a:ext uri="{FF2B5EF4-FFF2-40B4-BE49-F238E27FC236}">
                  <a16:creationId xmlns:a16="http://schemas.microsoft.com/office/drawing/2014/main" id="{DFD7C58A-F2DB-4A72-A972-708E582E98F1}"/>
                </a:ext>
              </a:extLst>
            </p:cNvPr>
            <p:cNvSpPr/>
            <p:nvPr/>
          </p:nvSpPr>
          <p:spPr>
            <a:xfrm>
              <a:off x="3131975" y="-1742271"/>
              <a:ext cx="1100391" cy="1045585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100" dirty="0"/>
                <a:t>Prototípus</a:t>
              </a:r>
            </a:p>
            <a:p>
              <a:pPr algn="ctr"/>
              <a:r>
                <a:rPr lang="hu-HU" sz="1100" dirty="0"/>
                <a:t>ciklusok</a:t>
              </a:r>
            </a:p>
          </p:txBody>
        </p:sp>
        <p:sp>
          <p:nvSpPr>
            <p:cNvPr id="99" name="Nyíl: jobbra mutató 98">
              <a:extLst>
                <a:ext uri="{FF2B5EF4-FFF2-40B4-BE49-F238E27FC236}">
                  <a16:creationId xmlns:a16="http://schemas.microsoft.com/office/drawing/2014/main" id="{AF05CEBD-39DB-482F-9F85-68578DCB8E32}"/>
                </a:ext>
              </a:extLst>
            </p:cNvPr>
            <p:cNvSpPr/>
            <p:nvPr/>
          </p:nvSpPr>
          <p:spPr>
            <a:xfrm>
              <a:off x="1589550" y="-1537353"/>
              <a:ext cx="1057709" cy="598372"/>
            </a:xfrm>
            <a:prstGeom prst="rightArrow">
              <a:avLst>
                <a:gd name="adj1" fmla="val 56367"/>
                <a:gd name="adj2" fmla="val 69102"/>
              </a:avLst>
            </a:prstGeom>
            <a:solidFill>
              <a:schemeClr val="accent2">
                <a:lumMod val="5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100" dirty="0"/>
                <a:t>Elemzés és</a:t>
              </a:r>
            </a:p>
            <a:p>
              <a:pPr algn="ctr"/>
              <a:r>
                <a:rPr lang="hu-HU" sz="1100" dirty="0"/>
                <a:t>tervezés</a:t>
              </a:r>
            </a:p>
          </p:txBody>
        </p:sp>
        <p:sp>
          <p:nvSpPr>
            <p:cNvPr id="133" name="Kör: üres 132">
              <a:extLst>
                <a:ext uri="{FF2B5EF4-FFF2-40B4-BE49-F238E27FC236}">
                  <a16:creationId xmlns:a16="http://schemas.microsoft.com/office/drawing/2014/main" id="{767C20EC-002D-4970-98E2-8C74B37F5C57}"/>
                </a:ext>
              </a:extLst>
            </p:cNvPr>
            <p:cNvSpPr/>
            <p:nvPr/>
          </p:nvSpPr>
          <p:spPr>
            <a:xfrm>
              <a:off x="2767770" y="-2113063"/>
              <a:ext cx="1828799" cy="1787168"/>
            </a:xfrm>
            <a:prstGeom prst="donut">
              <a:avLst>
                <a:gd name="adj" fmla="val 17109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solidFill>
                  <a:schemeClr val="tx1"/>
                </a:solidFill>
              </a:endParaRPr>
            </a:p>
          </p:txBody>
        </p:sp>
        <p:sp>
          <p:nvSpPr>
            <p:cNvPr id="134" name="Szövegdoboz 133">
              <a:extLst>
                <a:ext uri="{FF2B5EF4-FFF2-40B4-BE49-F238E27FC236}">
                  <a16:creationId xmlns:a16="http://schemas.microsoft.com/office/drawing/2014/main" id="{4E69447F-64B7-4126-AB4C-D0704633B441}"/>
                </a:ext>
              </a:extLst>
            </p:cNvPr>
            <p:cNvSpPr txBox="1"/>
            <p:nvPr/>
          </p:nvSpPr>
          <p:spPr>
            <a:xfrm rot="3947174">
              <a:off x="2727913" y="-2037046"/>
              <a:ext cx="1605809" cy="1879248"/>
            </a:xfrm>
            <a:prstGeom prst="rect">
              <a:avLst/>
            </a:prstGeom>
            <a:noFill/>
          </p:spPr>
          <p:txBody>
            <a:bodyPr wrap="square" rtlCol="0">
              <a:prstTxWarp prst="textCircle">
                <a:avLst>
                  <a:gd name="adj" fmla="val 11251470"/>
                </a:avLst>
              </a:prstTxWarp>
              <a:spAutoFit/>
            </a:bodyPr>
            <a:lstStyle/>
            <a:p>
              <a:r>
                <a:rPr lang="hu-HU" sz="1100" dirty="0">
                  <a:solidFill>
                    <a:schemeClr val="bg1"/>
                  </a:solidFill>
                </a:rPr>
                <a:t>Demonstráció          </a:t>
              </a:r>
            </a:p>
          </p:txBody>
        </p:sp>
        <p:sp>
          <p:nvSpPr>
            <p:cNvPr id="137" name="Szövegdoboz 136">
              <a:extLst>
                <a:ext uri="{FF2B5EF4-FFF2-40B4-BE49-F238E27FC236}">
                  <a16:creationId xmlns:a16="http://schemas.microsoft.com/office/drawing/2014/main" id="{1B869A03-8EB0-4E16-959F-62684551BBF7}"/>
                </a:ext>
              </a:extLst>
            </p:cNvPr>
            <p:cNvSpPr txBox="1"/>
            <p:nvPr/>
          </p:nvSpPr>
          <p:spPr>
            <a:xfrm rot="11502599">
              <a:off x="2557063" y="-2131378"/>
              <a:ext cx="1913894" cy="1605726"/>
            </a:xfrm>
            <a:prstGeom prst="rect">
              <a:avLst/>
            </a:prstGeom>
            <a:noFill/>
          </p:spPr>
          <p:txBody>
            <a:bodyPr wrap="square" rtlCol="0">
              <a:prstTxWarp prst="textCircle">
                <a:avLst>
                  <a:gd name="adj" fmla="val 11569402"/>
                </a:avLst>
              </a:prstTxWarp>
              <a:spAutoFit/>
            </a:bodyPr>
            <a:lstStyle/>
            <a:p>
              <a:r>
                <a:rPr lang="hu-HU" sz="1100" dirty="0">
                  <a:solidFill>
                    <a:schemeClr val="bg1"/>
                  </a:solidFill>
                </a:rPr>
                <a:t>Finomítás</a:t>
              </a:r>
            </a:p>
          </p:txBody>
        </p:sp>
        <p:sp>
          <p:nvSpPr>
            <p:cNvPr id="139" name="Szövegdoboz 138">
              <a:extLst>
                <a:ext uri="{FF2B5EF4-FFF2-40B4-BE49-F238E27FC236}">
                  <a16:creationId xmlns:a16="http://schemas.microsoft.com/office/drawing/2014/main" id="{9D9BE22A-C33A-4FC8-8D63-EEF49BAE5457}"/>
                </a:ext>
              </a:extLst>
            </p:cNvPr>
            <p:cNvSpPr txBox="1"/>
            <p:nvPr/>
          </p:nvSpPr>
          <p:spPr>
            <a:xfrm rot="17362592">
              <a:off x="2805428" y="-2247591"/>
              <a:ext cx="1913894" cy="1605726"/>
            </a:xfrm>
            <a:prstGeom prst="rect">
              <a:avLst/>
            </a:prstGeom>
            <a:noFill/>
          </p:spPr>
          <p:txBody>
            <a:bodyPr wrap="square" rtlCol="0">
              <a:prstTxWarp prst="textCircle">
                <a:avLst>
                  <a:gd name="adj" fmla="val 11569402"/>
                </a:avLst>
              </a:prstTxWarp>
              <a:spAutoFit/>
            </a:bodyPr>
            <a:lstStyle/>
            <a:p>
              <a:r>
                <a:rPr lang="hu-HU" sz="1100" dirty="0" err="1">
                  <a:solidFill>
                    <a:schemeClr val="bg1"/>
                  </a:solidFill>
                </a:rPr>
                <a:t>Build</a:t>
              </a:r>
              <a:endParaRPr lang="hu-HU" sz="1100" dirty="0">
                <a:solidFill>
                  <a:schemeClr val="bg1"/>
                </a:solidFill>
              </a:endParaRPr>
            </a:p>
          </p:txBody>
        </p:sp>
        <p:sp>
          <p:nvSpPr>
            <p:cNvPr id="140" name="Szövegdoboz 139">
              <a:extLst>
                <a:ext uri="{FF2B5EF4-FFF2-40B4-BE49-F238E27FC236}">
                  <a16:creationId xmlns:a16="http://schemas.microsoft.com/office/drawing/2014/main" id="{28FBA0F5-75F2-48E6-A348-85EF970ABBE4}"/>
                </a:ext>
              </a:extLst>
            </p:cNvPr>
            <p:cNvSpPr txBox="1"/>
            <p:nvPr/>
          </p:nvSpPr>
          <p:spPr>
            <a:xfrm rot="8344586">
              <a:off x="2545798" y="-1844344"/>
              <a:ext cx="1913894" cy="1605726"/>
            </a:xfrm>
            <a:prstGeom prst="rect">
              <a:avLst/>
            </a:prstGeom>
            <a:noFill/>
          </p:spPr>
          <p:txBody>
            <a:bodyPr wrap="square" rtlCol="0">
              <a:prstTxWarp prst="textCircle">
                <a:avLst>
                  <a:gd name="adj" fmla="val 11569402"/>
                </a:avLst>
              </a:prstTxWarp>
              <a:spAutoFit/>
            </a:bodyPr>
            <a:lstStyle/>
            <a:p>
              <a:r>
                <a:rPr lang="hu-HU" dirty="0">
                  <a:solidFill>
                    <a:schemeClr val="bg1"/>
                  </a:solidFill>
                </a:rPr>
                <a:t>&gt;</a:t>
              </a:r>
            </a:p>
          </p:txBody>
        </p:sp>
        <p:sp>
          <p:nvSpPr>
            <p:cNvPr id="142" name="Szövegdoboz 141">
              <a:extLst>
                <a:ext uri="{FF2B5EF4-FFF2-40B4-BE49-F238E27FC236}">
                  <a16:creationId xmlns:a16="http://schemas.microsoft.com/office/drawing/2014/main" id="{4D27E2B3-09E0-4291-9B24-B2D1DE856BDC}"/>
                </a:ext>
              </a:extLst>
            </p:cNvPr>
            <p:cNvSpPr txBox="1"/>
            <p:nvPr/>
          </p:nvSpPr>
          <p:spPr>
            <a:xfrm rot="15701630">
              <a:off x="2780789" y="-2247539"/>
              <a:ext cx="1913894" cy="1605726"/>
            </a:xfrm>
            <a:prstGeom prst="rect">
              <a:avLst/>
            </a:prstGeom>
            <a:noFill/>
          </p:spPr>
          <p:txBody>
            <a:bodyPr wrap="square" rtlCol="0">
              <a:prstTxWarp prst="textCircle">
                <a:avLst>
                  <a:gd name="adj" fmla="val 11569402"/>
                </a:avLst>
              </a:prstTxWarp>
              <a:spAutoFit/>
            </a:bodyPr>
            <a:lstStyle/>
            <a:p>
              <a:r>
                <a:rPr lang="hu-HU" dirty="0">
                  <a:solidFill>
                    <a:schemeClr val="bg1"/>
                  </a:solidFill>
                </a:rPr>
                <a:t>&gt;</a:t>
              </a:r>
            </a:p>
          </p:txBody>
        </p:sp>
        <p:sp>
          <p:nvSpPr>
            <p:cNvPr id="143" name="Szövegdoboz 142">
              <a:extLst>
                <a:ext uri="{FF2B5EF4-FFF2-40B4-BE49-F238E27FC236}">
                  <a16:creationId xmlns:a16="http://schemas.microsoft.com/office/drawing/2014/main" id="{40FFED39-0795-4DE4-BC91-6CC2958A5888}"/>
                </a:ext>
              </a:extLst>
            </p:cNvPr>
            <p:cNvSpPr txBox="1"/>
            <p:nvPr/>
          </p:nvSpPr>
          <p:spPr>
            <a:xfrm>
              <a:off x="2983616" y="-2002709"/>
              <a:ext cx="1913894" cy="1605726"/>
            </a:xfrm>
            <a:prstGeom prst="rect">
              <a:avLst/>
            </a:prstGeom>
            <a:noFill/>
          </p:spPr>
          <p:txBody>
            <a:bodyPr wrap="square" rtlCol="0">
              <a:prstTxWarp prst="textCircle">
                <a:avLst>
                  <a:gd name="adj" fmla="val 11569402"/>
                </a:avLst>
              </a:prstTxWarp>
              <a:spAutoFit/>
            </a:bodyPr>
            <a:lstStyle/>
            <a:p>
              <a:r>
                <a:rPr lang="hu-HU" dirty="0">
                  <a:solidFill>
                    <a:schemeClr val="bg1"/>
                  </a:solidFill>
                </a:rPr>
                <a:t>&gt;</a:t>
              </a:r>
            </a:p>
          </p:txBody>
        </p:sp>
        <p:sp>
          <p:nvSpPr>
            <p:cNvPr id="146" name="Nyíl: jobbra mutató 145">
              <a:extLst>
                <a:ext uri="{FF2B5EF4-FFF2-40B4-BE49-F238E27FC236}">
                  <a16:creationId xmlns:a16="http://schemas.microsoft.com/office/drawing/2014/main" id="{79B525C0-D1C4-41D3-A1DF-2BCAEA72770F}"/>
                </a:ext>
              </a:extLst>
            </p:cNvPr>
            <p:cNvSpPr/>
            <p:nvPr/>
          </p:nvSpPr>
          <p:spPr>
            <a:xfrm>
              <a:off x="4651340" y="-1537353"/>
              <a:ext cx="1057709" cy="598372"/>
            </a:xfrm>
            <a:prstGeom prst="rightArrow">
              <a:avLst>
                <a:gd name="adj1" fmla="val 56367"/>
                <a:gd name="adj2" fmla="val 69102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100" dirty="0"/>
                <a:t>Tesztelés</a:t>
              </a:r>
            </a:p>
          </p:txBody>
        </p:sp>
        <p:sp>
          <p:nvSpPr>
            <p:cNvPr id="147" name="Nyíl: jobbra mutató 146">
              <a:extLst>
                <a:ext uri="{FF2B5EF4-FFF2-40B4-BE49-F238E27FC236}">
                  <a16:creationId xmlns:a16="http://schemas.microsoft.com/office/drawing/2014/main" id="{6C5027A1-A71D-46E2-B255-28D1EBB7C2D8}"/>
                </a:ext>
              </a:extLst>
            </p:cNvPr>
            <p:cNvSpPr/>
            <p:nvPr/>
          </p:nvSpPr>
          <p:spPr>
            <a:xfrm>
              <a:off x="5754168" y="-1518665"/>
              <a:ext cx="1267951" cy="598372"/>
            </a:xfrm>
            <a:prstGeom prst="rightArrow">
              <a:avLst>
                <a:gd name="adj1" fmla="val 56367"/>
                <a:gd name="adj2" fmla="val 57959"/>
              </a:avLst>
            </a:prstGeom>
            <a:solidFill>
              <a:srgbClr val="EF8D4B"/>
            </a:solidFill>
            <a:ln>
              <a:solidFill>
                <a:srgbClr val="EF8D4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1100" dirty="0"/>
                <a:t>Implementáció</a:t>
              </a:r>
            </a:p>
          </p:txBody>
        </p:sp>
      </p:grpSp>
      <p:sp>
        <p:nvSpPr>
          <p:cNvPr id="152" name="Szövegdoboz 151">
            <a:extLst>
              <a:ext uri="{FF2B5EF4-FFF2-40B4-BE49-F238E27FC236}">
                <a16:creationId xmlns:a16="http://schemas.microsoft.com/office/drawing/2014/main" id="{8A979CE8-A42E-4278-9C49-EC9FA275AAE5}"/>
              </a:ext>
            </a:extLst>
          </p:cNvPr>
          <p:cNvSpPr txBox="1"/>
          <p:nvPr/>
        </p:nvSpPr>
        <p:spPr>
          <a:xfrm>
            <a:off x="122783" y="1045492"/>
            <a:ext cx="45904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hu-HU" sz="1600" dirty="0"/>
              <a:t>A Prototípus modell kijavítja a vízesés modell hibáit.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u-HU" sz="1600" dirty="0"/>
              <a:t>A felhasználó nem csak a fejlesztés végén találkozik a kész munkával.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u-HU" sz="1600" dirty="0"/>
              <a:t>Több Prototípus készül.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u-HU" sz="1600" dirty="0"/>
              <a:t>Félreértések, módosítások lehetségesek.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u-HU" sz="1600" dirty="0"/>
              <a:t>Mai modellek nagy része ezen alapúl.</a:t>
            </a:r>
          </a:p>
        </p:txBody>
      </p:sp>
      <p:sp>
        <p:nvSpPr>
          <p:cNvPr id="153" name="Szövegdoboz 152">
            <a:extLst>
              <a:ext uri="{FF2B5EF4-FFF2-40B4-BE49-F238E27FC236}">
                <a16:creationId xmlns:a16="http://schemas.microsoft.com/office/drawing/2014/main" id="{8D536C8D-4492-4AB5-A56F-CDC2C55C203E}"/>
              </a:ext>
            </a:extLst>
          </p:cNvPr>
          <p:cNvSpPr txBox="1"/>
          <p:nvPr/>
        </p:nvSpPr>
        <p:spPr>
          <a:xfrm>
            <a:off x="7594600" y="4919008"/>
            <a:ext cx="45904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hu-HU" sz="1600" dirty="0"/>
              <a:t>A prototípus modell az alapja.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u-HU" sz="1600" dirty="0"/>
              <a:t>Célja a szoftver gyorsabb és jobb minőségű elkészítésé.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u-HU" sz="1600" dirty="0"/>
              <a:t>Korai prototípusok készülnek.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u-HU" sz="1600" dirty="0"/>
              <a:t>Szigorú ütemterv.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u-HU" sz="1600" dirty="0"/>
              <a:t>Kevésbé formális kommunikáció.</a:t>
            </a:r>
          </a:p>
        </p:txBody>
      </p:sp>
    </p:spTree>
    <p:extLst>
      <p:ext uri="{BB962C8B-B14F-4D97-AF65-F5344CB8AC3E}">
        <p14:creationId xmlns:p14="http://schemas.microsoft.com/office/powerpoint/2010/main" val="3952194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TM04033925[[fn=Cseppecske]]</Template>
  <TotalTime>0</TotalTime>
  <Words>213</Words>
  <Application>Microsoft Office PowerPoint</Application>
  <PresentationFormat>Szélesvásznú</PresentationFormat>
  <Paragraphs>80</Paragraphs>
  <Slides>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Wingdings</vt:lpstr>
      <vt:lpstr>Office-téma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Kis Gergely Jenő</dc:creator>
  <cp:lastModifiedBy>Kis Gergely Jenő</cp:lastModifiedBy>
  <cp:revision>33</cp:revision>
  <dcterms:created xsi:type="dcterms:W3CDTF">2025-09-15T12:20:48Z</dcterms:created>
  <dcterms:modified xsi:type="dcterms:W3CDTF">2025-10-03T07:40:33Z</dcterms:modified>
</cp:coreProperties>
</file>